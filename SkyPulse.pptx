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Nunito"/>
      <p:regular r:id="rId35"/>
      <p:bold r:id="rId36"/>
      <p:italic r:id="rId37"/>
      <p:boldItalic r:id="rId38"/>
    </p:embeddedFont>
    <p:embeddedFont>
      <p:font typeface="Maven Pro"/>
      <p:regular r:id="rId39"/>
      <p:bold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venPro-bold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schemas.openxmlformats.org/officeDocument/2006/relationships/font" Target="fonts/Nunito-regular.fnt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37" Type="http://schemas.openxmlformats.org/officeDocument/2006/relationships/font" Target="fonts/Nunito-italic.fntdata"/><Relationship Id="rId14" Type="http://schemas.openxmlformats.org/officeDocument/2006/relationships/slide" Target="slides/slide9.xml"/><Relationship Id="rId36" Type="http://schemas.openxmlformats.org/officeDocument/2006/relationships/font" Target="fonts/Nunito-bold.fntdata"/><Relationship Id="rId17" Type="http://schemas.openxmlformats.org/officeDocument/2006/relationships/slide" Target="slides/slide12.xml"/><Relationship Id="rId39" Type="http://schemas.openxmlformats.org/officeDocument/2006/relationships/font" Target="fonts/MavenPro-regular.fntdata"/><Relationship Id="rId16" Type="http://schemas.openxmlformats.org/officeDocument/2006/relationships/slide" Target="slides/slide11.xml"/><Relationship Id="rId38" Type="http://schemas.openxmlformats.org/officeDocument/2006/relationships/font" Target="fonts/Nuni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9247e1556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9247e1556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9247e1556_1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9247e1556_1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9247e1556_1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9247e1556_1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9247e1556_1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9247e1556_1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9247e1556_1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9247e1556_1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9247e1556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89247e1556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9247e1556_1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9247e1556_1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9247e1556_1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89247e1556_1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9247e1556_1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89247e1556_1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9247e1556_1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89247e1556_1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9247e1556_1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89247e1556_1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89247e1556_1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89247e1556_1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9247e1556_1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89247e1556_1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9247e1556_1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89247e1556_1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9247e1556_1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89247e1556_1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89247e1556_1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89247e1556_1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89247e1556_1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89247e1556_1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89247e1556_12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89247e1556_1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89247e1556_1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89247e1556_1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9247e1556_1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9247e1556_1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89247e1556_12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89247e1556_1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89247e1556_12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89247e1556_1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89247e1556_12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89247e1556_1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89247e1556_12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89247e1556_1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89247e1556_12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89247e1556_1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737000" y="1182463"/>
            <a:ext cx="7333800" cy="200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SkyPulse : Beating Delays Before They Start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2233800" y="2875819"/>
            <a:ext cx="42555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real-time flight difficulty detection framework powered by data-driven insights.</a:t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3582100" y="3579525"/>
            <a:ext cx="1772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3F3F3"/>
                </a:solidFill>
                <a:latin typeface="Nunito"/>
                <a:ea typeface="Nunito"/>
                <a:cs typeface="Nunito"/>
                <a:sym typeface="Nunito"/>
              </a:rPr>
              <a:t>Team Name:Neutrinos</a:t>
            </a:r>
            <a:endParaRPr b="1" sz="1200">
              <a:solidFill>
                <a:srgbClr val="F3F3F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0" name="Google Shape;280;p13" title="U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99425" cy="10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3" title="PE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4575" y="0"/>
            <a:ext cx="1099425" cy="109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 txBox="1"/>
          <p:nvPr/>
        </p:nvSpPr>
        <p:spPr>
          <a:xfrm>
            <a:off x="2151600" y="4022625"/>
            <a:ext cx="484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MEMBERS :- Abhilash(22102069) &amp; Rajveer(22102072)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 txBox="1"/>
          <p:nvPr>
            <p:ph type="title"/>
          </p:nvPr>
        </p:nvSpPr>
        <p:spPr>
          <a:xfrm>
            <a:off x="458908" y="174531"/>
            <a:ext cx="77559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3F3F3"/>
                </a:solidFill>
              </a:rPr>
              <a:t>Business Problem</a:t>
            </a:r>
            <a:endParaRPr sz="3000">
              <a:solidFill>
                <a:srgbClr val="F3F3F3"/>
              </a:solidFill>
            </a:endParaRPr>
          </a:p>
        </p:txBody>
      </p:sp>
      <p:sp>
        <p:nvSpPr>
          <p:cNvPr id="288" name="Google Shape;288;p14"/>
          <p:cNvSpPr txBox="1"/>
          <p:nvPr>
            <p:ph idx="1" type="body"/>
          </p:nvPr>
        </p:nvSpPr>
        <p:spPr>
          <a:xfrm>
            <a:off x="458900" y="1167885"/>
            <a:ext cx="8460000" cy="3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Challenge:</a:t>
            </a:r>
            <a:r>
              <a:rPr lang="en" sz="7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Certain flights are operationally complex due to tight ground times, high baggage volumes, and specific passenger needs, making on-time departures a challenge.</a:t>
            </a:r>
            <a:endParaRPr sz="7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3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Current State:</a:t>
            </a:r>
            <a:r>
              <a:rPr lang="en" sz="71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Identifying high-difficulty flights relies on manual experience, which is inconsistent and not scalable.</a:t>
            </a:r>
            <a:endParaRPr sz="71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1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3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1" lang="en" sz="71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1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Develop a systematic, data-driven "Flight Difficulty Score" to quantify flight complexity and enable proactive resource planning at Chicago O'Hare (ORD).</a:t>
            </a:r>
            <a:endParaRPr sz="71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/>
          </a:p>
        </p:txBody>
      </p:sp>
      <p:sp>
        <p:nvSpPr>
          <p:cNvPr id="289" name="Google Shape;289;p14"/>
          <p:cNvSpPr/>
          <p:nvPr/>
        </p:nvSpPr>
        <p:spPr>
          <a:xfrm flipH="1" rot="10800000">
            <a:off x="556750" y="863400"/>
            <a:ext cx="3294900" cy="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>
            <p:ph type="title"/>
          </p:nvPr>
        </p:nvSpPr>
        <p:spPr>
          <a:xfrm>
            <a:off x="458908" y="174531"/>
            <a:ext cx="77559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3F3F3"/>
                </a:solidFill>
              </a:rPr>
              <a:t>Project Roadmap</a:t>
            </a:r>
            <a:endParaRPr sz="3000">
              <a:solidFill>
                <a:srgbClr val="F3F3F3"/>
              </a:solidFill>
            </a:endParaRPr>
          </a:p>
        </p:txBody>
      </p:sp>
      <p:sp>
        <p:nvSpPr>
          <p:cNvPr id="295" name="Google Shape;295;p15"/>
          <p:cNvSpPr/>
          <p:nvPr/>
        </p:nvSpPr>
        <p:spPr>
          <a:xfrm flipH="1" rot="10800000">
            <a:off x="556750" y="863400"/>
            <a:ext cx="3294900" cy="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96" name="Google Shape;296;p15"/>
          <p:cNvGrpSpPr/>
          <p:nvPr/>
        </p:nvGrpSpPr>
        <p:grpSpPr>
          <a:xfrm>
            <a:off x="0" y="1189995"/>
            <a:ext cx="2187803" cy="3718636"/>
            <a:chOff x="0" y="1189989"/>
            <a:chExt cx="2214600" cy="3718636"/>
          </a:xfrm>
        </p:grpSpPr>
        <p:sp>
          <p:nvSpPr>
            <p:cNvPr id="297" name="Google Shape;297;p15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Cleaning &amp; Preparation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8" name="Google Shape;298;p15"/>
            <p:cNvSpPr txBox="1"/>
            <p:nvPr/>
          </p:nvSpPr>
          <p:spPr>
            <a:xfrm>
              <a:off x="295050" y="2057125"/>
              <a:ext cx="1624500" cy="28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D9D9D9"/>
                  </a:solidFill>
                  <a:latin typeface="Roboto"/>
                  <a:ea typeface="Roboto"/>
                  <a:cs typeface="Roboto"/>
                  <a:sym typeface="Roboto"/>
                </a:rPr>
                <a:t>Standardized and cleaned five datasets by removing duplicates, correcting data types, and handling missing values to create a reliable foundation for analysis.</a:t>
              </a:r>
              <a:endParaRPr sz="13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9" name="Google Shape;299;p15"/>
          <p:cNvGrpSpPr/>
          <p:nvPr/>
        </p:nvGrpSpPr>
        <p:grpSpPr>
          <a:xfrm>
            <a:off x="1838325" y="1189775"/>
            <a:ext cx="2064000" cy="3795050"/>
            <a:chOff x="1838325" y="1189775"/>
            <a:chExt cx="2064000" cy="3795050"/>
          </a:xfrm>
        </p:grpSpPr>
        <p:sp>
          <p:nvSpPr>
            <p:cNvPr id="300" name="Google Shape;300;p15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Exploratory Data Analysis (EDA)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15"/>
            <p:cNvSpPr txBox="1"/>
            <p:nvPr/>
          </p:nvSpPr>
          <p:spPr>
            <a:xfrm>
              <a:off x="2058075" y="2057125"/>
              <a:ext cx="1624500" cy="29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D9D9D9"/>
                  </a:solidFill>
                </a:rPr>
                <a:t>Performed an in-depth analysis to understand the key characteristics of the data and identify the primary factors, like </a:t>
              </a:r>
              <a:r>
                <a:rPr b="1" lang="en" sz="1300">
                  <a:solidFill>
                    <a:srgbClr val="D9D9D9"/>
                  </a:solidFill>
                </a:rPr>
                <a:t>Special Service Requests</a:t>
              </a:r>
              <a:r>
                <a:rPr lang="en" sz="1300">
                  <a:solidFill>
                    <a:srgbClr val="D9D9D9"/>
                  </a:solidFill>
                </a:rPr>
                <a:t>, that correlate with operational difficulty.</a:t>
              </a:r>
              <a:endParaRPr sz="13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2" name="Google Shape;302;p15"/>
          <p:cNvGrpSpPr/>
          <p:nvPr/>
        </p:nvGrpSpPr>
        <p:grpSpPr>
          <a:xfrm>
            <a:off x="3516937" y="1189775"/>
            <a:ext cx="2154816" cy="3675350"/>
            <a:chOff x="3516750" y="1189775"/>
            <a:chExt cx="2064000" cy="3675350"/>
          </a:xfrm>
        </p:grpSpPr>
        <p:sp>
          <p:nvSpPr>
            <p:cNvPr id="303" name="Google Shape;303;p15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Feature Engineering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4" name="Google Shape;304;p15"/>
            <p:cNvSpPr txBox="1"/>
            <p:nvPr/>
          </p:nvSpPr>
          <p:spPr>
            <a:xfrm>
              <a:off x="3739439" y="2057125"/>
              <a:ext cx="1624500" cy="28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D9D9D9"/>
                  </a:solidFill>
                </a:rPr>
                <a:t>Created new, insightful variables from the raw data, such as </a:t>
              </a:r>
              <a:r>
                <a:rPr b="1" lang="en">
                  <a:solidFill>
                    <a:srgbClr val="D9D9D9"/>
                  </a:solidFill>
                </a:rPr>
                <a:t>'Ground Time Pressure'</a:t>
              </a:r>
              <a:r>
                <a:rPr lang="en">
                  <a:solidFill>
                    <a:srgbClr val="D9D9D9"/>
                  </a:solidFill>
                </a:rPr>
                <a:t> and </a:t>
              </a:r>
              <a:r>
                <a:rPr b="1" lang="en">
                  <a:solidFill>
                    <a:srgbClr val="D9D9D9"/>
                  </a:solidFill>
                </a:rPr>
                <a:t>'Baggage Complexity Ratio'</a:t>
              </a:r>
              <a:r>
                <a:rPr lang="en">
                  <a:solidFill>
                    <a:srgbClr val="D9D9D9"/>
                  </a:solidFill>
                </a:rPr>
                <a:t>, to serve as inputs for our scoring model.</a:t>
              </a:r>
              <a:r>
                <a:rPr lang="en" sz="1500">
                  <a:solidFill>
                    <a:srgbClr val="D9D9D9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5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5" name="Google Shape;305;p15"/>
          <p:cNvGrpSpPr/>
          <p:nvPr/>
        </p:nvGrpSpPr>
        <p:grpSpPr>
          <a:xfrm>
            <a:off x="7026264" y="1189775"/>
            <a:ext cx="2064000" cy="3718850"/>
            <a:chOff x="6874025" y="1189775"/>
            <a:chExt cx="2064000" cy="3718850"/>
          </a:xfrm>
        </p:grpSpPr>
        <p:sp>
          <p:nvSpPr>
            <p:cNvPr id="306" name="Google Shape;306;p15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Post-Analysis &amp; Recommendations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7" name="Google Shape;307;p15"/>
            <p:cNvSpPr txBox="1"/>
            <p:nvPr/>
          </p:nvSpPr>
          <p:spPr>
            <a:xfrm>
              <a:off x="7183861" y="2057125"/>
              <a:ext cx="1624500" cy="28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r>
                <a:rPr lang="en" sz="1300">
                  <a:solidFill>
                    <a:srgbClr val="D9D9D9"/>
                  </a:solidFill>
                </a:rPr>
                <a:t>Analyzed the score's output to identify high-risk destinations and their root causes, translating these data-driven findings into </a:t>
              </a:r>
              <a:r>
                <a:rPr b="1" lang="en" sz="1300">
                  <a:solidFill>
                    <a:srgbClr val="D9D9D9"/>
                  </a:solidFill>
                </a:rPr>
                <a:t>actionable operational recommendations</a:t>
              </a:r>
              <a:r>
                <a:rPr lang="en" sz="1300">
                  <a:solidFill>
                    <a:srgbClr val="D9D9D9"/>
                  </a:solidFill>
                </a:rPr>
                <a:t>.</a:t>
              </a:r>
              <a:endParaRPr sz="13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8" name="Google Shape;308;p15"/>
          <p:cNvGrpSpPr/>
          <p:nvPr/>
        </p:nvGrpSpPr>
        <p:grpSpPr>
          <a:xfrm>
            <a:off x="5271452" y="1189775"/>
            <a:ext cx="2154816" cy="3675350"/>
            <a:chOff x="5271470" y="1189775"/>
            <a:chExt cx="2064000" cy="3675350"/>
          </a:xfrm>
        </p:grpSpPr>
        <p:sp>
          <p:nvSpPr>
            <p:cNvPr id="309" name="Google Shape;309;p15"/>
            <p:cNvSpPr/>
            <p:nvPr/>
          </p:nvSpPr>
          <p:spPr>
            <a:xfrm>
              <a:off x="527147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Difficulty Score Development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0" name="Google Shape;310;p15"/>
            <p:cNvSpPr txBox="1"/>
            <p:nvPr/>
          </p:nvSpPr>
          <p:spPr>
            <a:xfrm>
              <a:off x="5461650" y="2057125"/>
              <a:ext cx="1624500" cy="28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D9D9D9"/>
                  </a:solidFill>
                </a:rPr>
                <a:t>Developed a daily, weighted scoring model that combines key features to systematically quantify flight complexity, resulting in a final rank and classification (</a:t>
              </a:r>
              <a:r>
                <a:rPr b="1" lang="en" sz="1300">
                  <a:solidFill>
                    <a:srgbClr val="D9D9D9"/>
                  </a:solidFill>
                </a:rPr>
                <a:t>'Easy'</a:t>
              </a:r>
              <a:r>
                <a:rPr lang="en" sz="1300">
                  <a:solidFill>
                    <a:srgbClr val="D9D9D9"/>
                  </a:solidFill>
                </a:rPr>
                <a:t>, </a:t>
              </a:r>
              <a:r>
                <a:rPr b="1" lang="en" sz="1300">
                  <a:solidFill>
                    <a:srgbClr val="D9D9D9"/>
                  </a:solidFill>
                </a:rPr>
                <a:t>'Medium'</a:t>
              </a:r>
              <a:r>
                <a:rPr lang="en" sz="1300">
                  <a:solidFill>
                    <a:srgbClr val="D9D9D9"/>
                  </a:solidFill>
                </a:rPr>
                <a:t>, </a:t>
              </a:r>
              <a:r>
                <a:rPr b="1" lang="en" sz="1300">
                  <a:solidFill>
                    <a:srgbClr val="D9D9D9"/>
                  </a:solidFill>
                </a:rPr>
                <a:t>'Difficult'</a:t>
              </a:r>
              <a:r>
                <a:rPr lang="en" sz="1300">
                  <a:solidFill>
                    <a:srgbClr val="D9D9D9"/>
                  </a:solidFill>
                </a:rPr>
                <a:t>).</a:t>
              </a:r>
              <a:endParaRPr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Data Cleaning &amp; Preparation</a:t>
            </a:r>
            <a:endParaRPr sz="3200"/>
          </a:p>
        </p:txBody>
      </p:sp>
      <p:sp>
        <p:nvSpPr>
          <p:cNvPr id="316" name="Google Shape;316;p16"/>
          <p:cNvSpPr txBox="1"/>
          <p:nvPr/>
        </p:nvSpPr>
        <p:spPr>
          <a:xfrm>
            <a:off x="382775" y="1178615"/>
            <a:ext cx="79818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Ensuring a Reliable Foundation for Analysis.</a:t>
            </a:r>
            <a:endParaRPr sz="20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Outlined the key cleaning steps performed on the five datasets.</a:t>
            </a:r>
            <a:endParaRPr sz="20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393649" y="2244472"/>
            <a:ext cx="82209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EFEFEF"/>
                </a:solidFill>
              </a:rPr>
              <a:t>Key Actions:</a:t>
            </a:r>
            <a:endParaRPr b="1" sz="2400">
              <a:solidFill>
                <a:srgbClr val="EFEFEF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en" sz="2000">
                <a:solidFill>
                  <a:srgbClr val="EFEFEF"/>
                </a:solidFill>
              </a:rPr>
              <a:t>Removed 293 duplicate baggage records.</a:t>
            </a:r>
            <a:endParaRPr sz="20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en" sz="2000">
                <a:solidFill>
                  <a:srgbClr val="EFEFEF"/>
                </a:solidFill>
              </a:rPr>
              <a:t>Converted all date/time columns to the correct </a:t>
            </a:r>
            <a:r>
              <a:rPr lang="en" sz="20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" sz="2000">
                <a:solidFill>
                  <a:srgbClr val="EFEFEF"/>
                </a:solidFill>
              </a:rPr>
              <a:t> format.</a:t>
            </a:r>
            <a:endParaRPr sz="20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en" sz="2000">
                <a:solidFill>
                  <a:srgbClr val="EFEFEF"/>
                </a:solidFill>
              </a:rPr>
              <a:t>Standardized categorical and boolean columns (e.g., 'Y'/'N' to 1/0).</a:t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16"/>
          <p:cNvSpPr/>
          <p:nvPr/>
        </p:nvSpPr>
        <p:spPr>
          <a:xfrm flipH="1" rot="10800000">
            <a:off x="1535450" y="917398"/>
            <a:ext cx="5774100" cy="11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 txBox="1"/>
          <p:nvPr>
            <p:ph type="title"/>
          </p:nvPr>
        </p:nvSpPr>
        <p:spPr>
          <a:xfrm>
            <a:off x="458908" y="174531"/>
            <a:ext cx="77559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3F3F3"/>
                </a:solidFill>
              </a:rPr>
              <a:t>Removing Duplicates</a:t>
            </a:r>
            <a:endParaRPr sz="3000">
              <a:solidFill>
                <a:srgbClr val="F3F3F3"/>
              </a:solidFill>
            </a:endParaRPr>
          </a:p>
        </p:txBody>
      </p:sp>
      <p:sp>
        <p:nvSpPr>
          <p:cNvPr id="324" name="Google Shape;324;p17"/>
          <p:cNvSpPr/>
          <p:nvPr/>
        </p:nvSpPr>
        <p:spPr>
          <a:xfrm flipH="1" rot="10800000">
            <a:off x="556750" y="863400"/>
            <a:ext cx="3893100" cy="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5" name="Google Shape;325;p17" title="Screenshot 2025-10-05 1932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7550" y="1437825"/>
            <a:ext cx="5360975" cy="248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7"/>
          <p:cNvSpPr txBox="1"/>
          <p:nvPr/>
        </p:nvSpPr>
        <p:spPr>
          <a:xfrm>
            <a:off x="415400" y="1428875"/>
            <a:ext cx="2664300" cy="25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3F3F3"/>
                </a:solidFill>
                <a:latin typeface="Nunito"/>
                <a:ea typeface="Nunito"/>
                <a:cs typeface="Nunito"/>
                <a:sym typeface="Nunito"/>
              </a:rPr>
              <a:t>The bags data set was found to have 293 duplicate data points. It was removed from the dataset as i could skew our analysis.</a:t>
            </a:r>
            <a:endParaRPr sz="2000">
              <a:solidFill>
                <a:srgbClr val="F3F3F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p17"/>
          <p:cNvSpPr/>
          <p:nvPr/>
        </p:nvSpPr>
        <p:spPr>
          <a:xfrm rot="5397571">
            <a:off x="4244331" y="855478"/>
            <a:ext cx="849300" cy="243000"/>
          </a:xfrm>
          <a:prstGeom prst="bentArrow">
            <a:avLst>
              <a:gd fmla="val 34043" name="adj1"/>
              <a:gd fmla="val 50000" name="adj2"/>
              <a:gd fmla="val 50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 txBox="1"/>
          <p:nvPr>
            <p:ph type="title"/>
          </p:nvPr>
        </p:nvSpPr>
        <p:spPr>
          <a:xfrm>
            <a:off x="458908" y="174531"/>
            <a:ext cx="77559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3F3F3"/>
                </a:solidFill>
              </a:rPr>
              <a:t>Converting into correct data-types</a:t>
            </a:r>
            <a:endParaRPr sz="3000">
              <a:solidFill>
                <a:srgbClr val="F3F3F3"/>
              </a:solidFill>
            </a:endParaRPr>
          </a:p>
        </p:txBody>
      </p:sp>
      <p:sp>
        <p:nvSpPr>
          <p:cNvPr id="333" name="Google Shape;333;p18"/>
          <p:cNvSpPr/>
          <p:nvPr/>
        </p:nvSpPr>
        <p:spPr>
          <a:xfrm flipH="1" rot="10800000">
            <a:off x="556750" y="896100"/>
            <a:ext cx="6437700" cy="10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415400" y="1276625"/>
            <a:ext cx="2664300" cy="3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3F3F3"/>
                </a:solidFill>
                <a:latin typeface="Nunito"/>
                <a:ea typeface="Nunito"/>
                <a:cs typeface="Nunito"/>
                <a:sym typeface="Nunito"/>
              </a:rPr>
              <a:t>Various columns across different datasets were converted into a more useful data-type. For example, dates columns were converted from object to date-time format. </a:t>
            </a:r>
            <a:endParaRPr sz="2000">
              <a:solidFill>
                <a:srgbClr val="F3F3F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5" name="Google Shape;335;p18" title="Screenshot 2025-10-05 1949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5597" y="1439909"/>
            <a:ext cx="5737675" cy="285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8"/>
          <p:cNvSpPr/>
          <p:nvPr/>
        </p:nvSpPr>
        <p:spPr>
          <a:xfrm rot="5397571">
            <a:off x="6767147" y="855478"/>
            <a:ext cx="849300" cy="243000"/>
          </a:xfrm>
          <a:prstGeom prst="bentArrow">
            <a:avLst>
              <a:gd fmla="val 56418" name="adj1"/>
              <a:gd fmla="val 50000" name="adj2"/>
              <a:gd fmla="val 50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 txBox="1"/>
          <p:nvPr>
            <p:ph type="title"/>
          </p:nvPr>
        </p:nvSpPr>
        <p:spPr>
          <a:xfrm>
            <a:off x="458908" y="174531"/>
            <a:ext cx="77559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3F3F3"/>
                </a:solidFill>
              </a:rPr>
              <a:t>Standardizing Categorical Columns</a:t>
            </a:r>
            <a:endParaRPr sz="3000">
              <a:solidFill>
                <a:srgbClr val="F3F3F3"/>
              </a:solidFill>
            </a:endParaRPr>
          </a:p>
        </p:txBody>
      </p:sp>
      <p:sp>
        <p:nvSpPr>
          <p:cNvPr id="342" name="Google Shape;342;p19"/>
          <p:cNvSpPr/>
          <p:nvPr/>
        </p:nvSpPr>
        <p:spPr>
          <a:xfrm flipH="1" rot="10800000">
            <a:off x="556750" y="896100"/>
            <a:ext cx="6437700" cy="10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404525" y="2335900"/>
            <a:ext cx="81231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3F3F3"/>
                </a:solidFill>
                <a:latin typeface="Nunito"/>
                <a:ea typeface="Nunito"/>
                <a:cs typeface="Nunito"/>
                <a:sym typeface="Nunito"/>
              </a:rPr>
              <a:t>Categorical </a:t>
            </a:r>
            <a:r>
              <a:rPr lang="en" sz="2200">
                <a:solidFill>
                  <a:srgbClr val="F3F3F3"/>
                </a:solidFill>
                <a:latin typeface="Nunito"/>
                <a:ea typeface="Nunito"/>
                <a:cs typeface="Nunito"/>
                <a:sym typeface="Nunito"/>
              </a:rPr>
              <a:t>columns</a:t>
            </a:r>
            <a:r>
              <a:rPr lang="en" sz="2200">
                <a:solidFill>
                  <a:srgbClr val="F3F3F3"/>
                </a:solidFill>
                <a:latin typeface="Nunito"/>
                <a:ea typeface="Nunito"/>
                <a:cs typeface="Nunito"/>
                <a:sym typeface="Nunito"/>
              </a:rPr>
              <a:t> such as “is_child” and “is _stroller_user” were standardized and converted from yes/no to 0/1. This step made further analysis easier and helped us during Feature Engineering.</a:t>
            </a:r>
            <a:endParaRPr sz="2200">
              <a:solidFill>
                <a:srgbClr val="F3F3F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4" name="Google Shape;344;p19"/>
          <p:cNvSpPr/>
          <p:nvPr/>
        </p:nvSpPr>
        <p:spPr>
          <a:xfrm rot="5397571">
            <a:off x="6767147" y="855478"/>
            <a:ext cx="849300" cy="243000"/>
          </a:xfrm>
          <a:prstGeom prst="bentArrow">
            <a:avLst>
              <a:gd fmla="val 56418" name="adj1"/>
              <a:gd fmla="val 50000" name="adj2"/>
              <a:gd fmla="val 50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5" name="Google Shape;345;p19" title="Screenshot 2025-10-05 1954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00" y="1455800"/>
            <a:ext cx="8440549" cy="494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Exploratory Data Analysis</a:t>
            </a:r>
            <a:endParaRPr sz="3200"/>
          </a:p>
        </p:txBody>
      </p:sp>
      <p:sp>
        <p:nvSpPr>
          <p:cNvPr id="351" name="Google Shape;351;p20"/>
          <p:cNvSpPr txBox="1"/>
          <p:nvPr/>
        </p:nvSpPr>
        <p:spPr>
          <a:xfrm>
            <a:off x="143575" y="1156875"/>
            <a:ext cx="46107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1.) Delays are Frequent &amp; Significant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187025" y="2113947"/>
            <a:ext cx="4686900" cy="25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FEFEF"/>
                </a:solidFill>
              </a:rPr>
              <a:t>Question:</a:t>
            </a:r>
            <a:r>
              <a:rPr lang="en" sz="2000">
                <a:solidFill>
                  <a:srgbClr val="EFEFEF"/>
                </a:solidFill>
              </a:rPr>
              <a:t> What is the average delay and what percentage of flights depart late?</a:t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FEFEF"/>
                </a:solidFill>
              </a:rPr>
              <a:t>Finding:</a:t>
            </a:r>
            <a:r>
              <a:rPr lang="en" sz="2000">
                <a:solidFill>
                  <a:srgbClr val="EFEFEF"/>
                </a:solidFill>
              </a:rPr>
              <a:t> Nearly half (49.6%) of all flights depart late, and those that do are delayed by an average of 47 minutes.</a:t>
            </a:r>
            <a:endParaRPr sz="29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3" name="Google Shape;353;p20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4" name="Google Shape;354;p20" title="late_flights_donut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7425" y="1341875"/>
            <a:ext cx="3726324" cy="35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Exploratory Data Analysis</a:t>
            </a:r>
            <a:endParaRPr sz="3200"/>
          </a:p>
        </p:txBody>
      </p:sp>
      <p:sp>
        <p:nvSpPr>
          <p:cNvPr id="360" name="Google Shape;360;p21"/>
          <p:cNvSpPr txBox="1"/>
          <p:nvPr/>
        </p:nvSpPr>
        <p:spPr>
          <a:xfrm>
            <a:off x="208825" y="1102504"/>
            <a:ext cx="42300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2.) </a:t>
            </a: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The Pressure of Tight Schedules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241400" y="2059573"/>
            <a:ext cx="42300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FEFEF"/>
                </a:solidFill>
              </a:rPr>
              <a:t>Question:</a:t>
            </a:r>
            <a:r>
              <a:rPr lang="en" sz="2000">
                <a:solidFill>
                  <a:srgbClr val="EFEFEF"/>
                </a:solidFill>
              </a:rPr>
              <a:t> How many flights have scheduled ground time below the minimum?</a:t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FEFEF"/>
                </a:solidFill>
              </a:rPr>
              <a:t>Finding:</a:t>
            </a:r>
            <a:r>
              <a:rPr lang="en" sz="2000">
                <a:solidFill>
                  <a:srgbClr val="EFEFEF"/>
                </a:solidFill>
              </a:rPr>
              <a:t> A significant 8.05% of flights are scheduled with tight turnarounds, creating inherent operational risk before the day even begins.</a:t>
            </a:r>
            <a:endParaRPr sz="29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2" name="Google Shape;362;p21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3" name="Google Shape;363;p21" title="turnaround_time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700" y="1200500"/>
            <a:ext cx="4230000" cy="36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Exploratory Data Analysis</a:t>
            </a:r>
            <a:endParaRPr sz="3200"/>
          </a:p>
        </p:txBody>
      </p:sp>
      <p:sp>
        <p:nvSpPr>
          <p:cNvPr id="369" name="Google Shape;369;p22"/>
          <p:cNvSpPr txBox="1"/>
          <p:nvPr/>
        </p:nvSpPr>
        <p:spPr>
          <a:xfrm>
            <a:off x="208825" y="1048121"/>
            <a:ext cx="40995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3.)</a:t>
            </a: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The Complexity of Baggage Handling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197900" y="1896441"/>
            <a:ext cx="40995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FEFEF"/>
                </a:solidFill>
              </a:rPr>
              <a:t>Question:</a:t>
            </a:r>
            <a:r>
              <a:rPr lang="en" sz="2000">
                <a:solidFill>
                  <a:srgbClr val="EFEFEF"/>
                </a:solidFill>
              </a:rPr>
              <a:t> How many flights have scheduled ground time below the minimum?</a:t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FEFEF"/>
                </a:solidFill>
              </a:rPr>
              <a:t>Finding:</a:t>
            </a:r>
            <a:r>
              <a:rPr lang="en" sz="2000">
                <a:solidFill>
                  <a:srgbClr val="EFEFEF"/>
                </a:solidFill>
              </a:rPr>
              <a:t> A significant 8.05% of flights are scheduled with tight turnarounds, creating inherent operational risk before the day even begins.</a:t>
            </a:r>
            <a:endParaRPr sz="29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1" name="Google Shape;371;p22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2" name="Google Shape;372;p22" title="baggage_ratio_infograph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7100" y="1341875"/>
            <a:ext cx="4509400" cy="33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Exploratory Data Analysis</a:t>
            </a:r>
            <a:endParaRPr sz="3200"/>
          </a:p>
        </p:txBody>
      </p:sp>
      <p:sp>
        <p:nvSpPr>
          <p:cNvPr id="378" name="Google Shape;378;p23"/>
          <p:cNvSpPr txBox="1"/>
          <p:nvPr/>
        </p:nvSpPr>
        <p:spPr>
          <a:xfrm>
            <a:off x="208825" y="1156875"/>
            <a:ext cx="45672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.) </a:t>
            </a: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Passenger Load Factor Distribution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176152" y="2037806"/>
            <a:ext cx="4226100" cy="26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FEFEF"/>
                </a:solidFill>
              </a:rPr>
              <a:t>Question:</a:t>
            </a:r>
            <a:r>
              <a:rPr lang="en" sz="2000">
                <a:solidFill>
                  <a:srgbClr val="EFEFEF"/>
                </a:solidFill>
              </a:rPr>
              <a:t> </a:t>
            </a:r>
            <a:r>
              <a:rPr lang="en" sz="2000">
                <a:solidFill>
                  <a:srgbClr val="EFEFEF"/>
                </a:solidFill>
              </a:rPr>
              <a:t>How do passenger loads compare across flights?</a:t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FEFEF"/>
                </a:solidFill>
              </a:rPr>
              <a:t>Finding:</a:t>
            </a:r>
            <a:r>
              <a:rPr lang="en" sz="2000">
                <a:solidFill>
                  <a:srgbClr val="EFEFEF"/>
                </a:solidFill>
              </a:rPr>
              <a:t> </a:t>
            </a:r>
            <a:r>
              <a:rPr lang="en" sz="2000">
                <a:solidFill>
                  <a:srgbClr val="EFEFEF"/>
                </a:solidFill>
              </a:rPr>
              <a:t>Most flights operate at a high capacity, with a significant number of flights even exceeding 100% load factor due to lap infants.</a:t>
            </a:r>
            <a:endParaRPr sz="29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0" name="Google Shape;380;p23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1" name="Google Shape;381;p23" title="load_factor_vs_del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52750"/>
            <a:ext cx="4343175" cy="352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Exploratory Data Analysis</a:t>
            </a:r>
            <a:endParaRPr sz="3200"/>
          </a:p>
        </p:txBody>
      </p:sp>
      <p:sp>
        <p:nvSpPr>
          <p:cNvPr id="387" name="Google Shape;387;p24"/>
          <p:cNvSpPr txBox="1"/>
          <p:nvPr/>
        </p:nvSpPr>
        <p:spPr>
          <a:xfrm>
            <a:off x="208825" y="1080756"/>
            <a:ext cx="75684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4.) Passenger Load Factor Distribution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176150" y="2820750"/>
            <a:ext cx="86016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FEFEF"/>
                </a:solidFill>
              </a:rPr>
              <a:t>Question:</a:t>
            </a:r>
            <a:r>
              <a:rPr lang="en" sz="1700">
                <a:solidFill>
                  <a:srgbClr val="EFEFEF"/>
                </a:solidFill>
              </a:rPr>
              <a:t> How do passenger loads compare across flights?</a:t>
            </a:r>
            <a:endParaRPr sz="17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FEFEF"/>
                </a:solidFill>
              </a:rPr>
              <a:t>Finding:</a:t>
            </a:r>
            <a:r>
              <a:rPr lang="en" sz="1700">
                <a:solidFill>
                  <a:srgbClr val="EFEFEF"/>
                </a:solidFill>
              </a:rPr>
              <a:t> Most flights operate at a high capacity, with a significant number of flights even exceeding 100% load factor due to lap infants.</a:t>
            </a:r>
            <a:endParaRPr sz="17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FEFEF"/>
                </a:solidFill>
              </a:rPr>
              <a:t>Observation</a:t>
            </a:r>
            <a:r>
              <a:rPr b="1" lang="en" sz="1700">
                <a:solidFill>
                  <a:srgbClr val="EFEFEF"/>
                </a:solidFill>
              </a:rPr>
              <a:t>:</a:t>
            </a:r>
            <a:r>
              <a:rPr lang="en" sz="1700">
                <a:solidFill>
                  <a:srgbClr val="EFEFEF"/>
                </a:solidFill>
              </a:rPr>
              <a:t> </a:t>
            </a:r>
            <a:r>
              <a:rPr lang="en" sz="1700">
                <a:solidFill>
                  <a:srgbClr val="EFEFEF"/>
                </a:solidFill>
              </a:rPr>
              <a:t>A correlation of -0.15 is considered very weak. It suggests that there is almost no linear relationship between how full a flight is and how delayed it is.</a:t>
            </a:r>
            <a:endParaRPr sz="26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9" name="Google Shape;389;p24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0" name="Google Shape;390;p24" title="Screenshot 2025-10-05 2029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000" y="1700706"/>
            <a:ext cx="8182849" cy="96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Exploratory Data Analysis</a:t>
            </a:r>
            <a:endParaRPr sz="3200"/>
          </a:p>
        </p:txBody>
      </p:sp>
      <p:sp>
        <p:nvSpPr>
          <p:cNvPr id="396" name="Google Shape;396;p25"/>
          <p:cNvSpPr txBox="1"/>
          <p:nvPr/>
        </p:nvSpPr>
        <p:spPr>
          <a:xfrm>
            <a:off x="684445" y="1238500"/>
            <a:ext cx="77751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.) </a:t>
            </a: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 The Impact of Special Service Requests (SSRs)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7" name="Google Shape;397;p25"/>
          <p:cNvSpPr txBox="1"/>
          <p:nvPr/>
        </p:nvSpPr>
        <p:spPr>
          <a:xfrm>
            <a:off x="676375" y="2081408"/>
            <a:ext cx="77859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FEFEF"/>
                </a:solidFill>
              </a:rPr>
              <a:t>Question:</a:t>
            </a:r>
            <a:r>
              <a:rPr lang="en" sz="1800">
                <a:solidFill>
                  <a:srgbClr val="EFEFEF"/>
                </a:solidFill>
              </a:rPr>
              <a:t> </a:t>
            </a:r>
            <a:r>
              <a:rPr lang="en" sz="1800">
                <a:solidFill>
                  <a:srgbClr val="EFEFEF"/>
                </a:solidFill>
              </a:rPr>
              <a:t>Are high SSR flights also high-delay after controlling for load?</a:t>
            </a:r>
            <a:endParaRPr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FEFEF"/>
                </a:solidFill>
              </a:rPr>
              <a:t>Finding:</a:t>
            </a:r>
            <a:r>
              <a:rPr lang="en" sz="1800">
                <a:solidFill>
                  <a:srgbClr val="EFEFEF"/>
                </a:solidFill>
              </a:rPr>
              <a:t> </a:t>
            </a:r>
            <a:r>
              <a:rPr lang="en" sz="1800">
                <a:solidFill>
                  <a:srgbClr val="EFEFEF"/>
                </a:solidFill>
              </a:rPr>
              <a:t>Yes. Our analysis proves that a high volume of SSRs is an independent driver of delays, regardless of how full the flight is.</a:t>
            </a:r>
            <a:endParaRPr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FEFEF"/>
                </a:solidFill>
              </a:rPr>
              <a:t>Observation</a:t>
            </a:r>
            <a:r>
              <a:rPr b="1" lang="en" sz="1700">
                <a:solidFill>
                  <a:srgbClr val="EFEFEF"/>
                </a:solidFill>
              </a:rPr>
              <a:t>:</a:t>
            </a:r>
            <a:r>
              <a:rPr lang="en" sz="1700">
                <a:solidFill>
                  <a:srgbClr val="EFEFEF"/>
                </a:solidFill>
              </a:rPr>
              <a:t> </a:t>
            </a:r>
            <a:r>
              <a:rPr lang="en" sz="1800">
                <a:solidFill>
                  <a:srgbClr val="EFEFEF"/>
                </a:solidFill>
              </a:rPr>
              <a:t>As "High" SSR bar is consistently taller than the "Low" SSR bar within each load factor category ('Low', 'Medium', and 'High'), it provides strong evidence that a high number of special service requests does contribute to departure delays, regardless of how full the flight is.</a:t>
            </a:r>
            <a:endParaRPr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8" name="Google Shape;398;p25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Exploratory Data Analysis</a:t>
            </a:r>
            <a:endParaRPr sz="3200"/>
          </a:p>
        </p:txBody>
      </p:sp>
      <p:sp>
        <p:nvSpPr>
          <p:cNvPr id="404" name="Google Shape;404;p26"/>
          <p:cNvSpPr txBox="1"/>
          <p:nvPr/>
        </p:nvSpPr>
        <p:spPr>
          <a:xfrm>
            <a:off x="817750" y="1140625"/>
            <a:ext cx="73122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5.)  The Impact of Special Service Requests (SSRs)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5" name="Google Shape;405;p26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6" name="Google Shape;406;p26" title="ssr_delay_controlled_for_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500" y="1929075"/>
            <a:ext cx="8255400" cy="28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The Flight Difficulty Score </a:t>
            </a:r>
            <a:endParaRPr sz="3200"/>
          </a:p>
        </p:txBody>
      </p:sp>
      <p:sp>
        <p:nvSpPr>
          <p:cNvPr id="412" name="Google Shape;412;p27"/>
          <p:cNvSpPr txBox="1"/>
          <p:nvPr/>
        </p:nvSpPr>
        <p:spPr>
          <a:xfrm>
            <a:off x="777325" y="1042750"/>
            <a:ext cx="3172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Feature Engineering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3" name="Google Shape;413;p27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4" name="Google Shape;414;p27"/>
          <p:cNvSpPr txBox="1"/>
          <p:nvPr/>
        </p:nvSpPr>
        <p:spPr>
          <a:xfrm>
            <a:off x="774250" y="2070441"/>
            <a:ext cx="7753200" cy="26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FEFEF"/>
                </a:solidFill>
              </a:rPr>
              <a:t>  We created several key features to serve as inputs for our model.</a:t>
            </a:r>
            <a:endParaRPr b="1"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</a:rPr>
              <a:t>  </a:t>
            </a:r>
            <a:r>
              <a:rPr lang="en" sz="1600">
                <a:solidFill>
                  <a:srgbClr val="EFEFEF"/>
                </a:solidFill>
              </a:rPr>
              <a:t>List of Features:</a:t>
            </a:r>
            <a:endParaRPr sz="16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b="1" lang="en" sz="1300">
                <a:solidFill>
                  <a:srgbClr val="EFEFEF"/>
                </a:solidFill>
              </a:rPr>
              <a:t>Ground Time Pressure:</a:t>
            </a:r>
            <a:r>
              <a:rPr lang="en" sz="1300">
                <a:solidFill>
                  <a:srgbClr val="EFEFEF"/>
                </a:solidFill>
              </a:rPr>
              <a:t>  </a:t>
            </a:r>
            <a:r>
              <a:rPr lang="en" sz="13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minimum_turn_minutes</a:t>
            </a:r>
            <a:r>
              <a:rPr lang="en" sz="1300">
                <a:solidFill>
                  <a:srgbClr val="EFEFEF"/>
                </a:solidFill>
              </a:rPr>
              <a:t>- </a:t>
            </a:r>
            <a:r>
              <a:rPr lang="en" sz="13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scheduled_ground_time_minutes</a:t>
            </a:r>
            <a:endParaRPr sz="1300"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Roboto Mono"/>
              <a:buChar char="●"/>
            </a:pPr>
            <a:r>
              <a:rPr b="1" lang="en">
                <a:solidFill>
                  <a:srgbClr val="EFEFEF"/>
                </a:solidFill>
              </a:rPr>
              <a:t>Baggage Complexity:</a:t>
            </a:r>
            <a:r>
              <a:rPr lang="en">
                <a:solidFill>
                  <a:srgbClr val="EFEFEF"/>
                </a:solidFill>
              </a:rPr>
              <a:t>  </a:t>
            </a:r>
            <a:r>
              <a:rPr lang="en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transfer_to_origin_ratio</a:t>
            </a:r>
            <a:r>
              <a:rPr lang="en">
                <a:solidFill>
                  <a:srgbClr val="EFEFEF"/>
                </a:solidFill>
              </a:rPr>
              <a:t>, count of </a:t>
            </a:r>
            <a:r>
              <a:rPr lang="en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Hot Transfer</a:t>
            </a:r>
            <a:r>
              <a:rPr lang="en">
                <a:solidFill>
                  <a:srgbClr val="EFEFEF"/>
                </a:solidFill>
              </a:rPr>
              <a:t> bags</a:t>
            </a:r>
            <a:endParaRPr>
              <a:solidFill>
                <a:srgbClr val="EFEFE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Char char="●"/>
            </a:pPr>
            <a:r>
              <a:rPr b="1" lang="en" sz="1300">
                <a:solidFill>
                  <a:srgbClr val="EFEFEF"/>
                </a:solidFill>
              </a:rPr>
              <a:t>Passenger Complexity: </a:t>
            </a:r>
            <a:r>
              <a:rPr lang="en" sz="1300">
                <a:solidFill>
                  <a:srgbClr val="EFEFEF"/>
                </a:solidFill>
              </a:rPr>
              <a:t> </a:t>
            </a:r>
            <a:r>
              <a:rPr lang="en" sz="13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ssr_count</a:t>
            </a:r>
            <a:r>
              <a:rPr lang="en" sz="1300">
                <a:solidFill>
                  <a:srgbClr val="EFEFEF"/>
                </a:solidFill>
              </a:rPr>
              <a:t>, </a:t>
            </a:r>
            <a:r>
              <a:rPr lang="en" sz="13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lap_child_count</a:t>
            </a:r>
            <a:endParaRPr sz="1300"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Roboto Mono"/>
              <a:buChar char="●"/>
            </a:pPr>
            <a:r>
              <a:rPr b="1" lang="en" sz="1200">
                <a:solidFill>
                  <a:srgbClr val="EFEFEF"/>
                </a:solidFill>
              </a:rPr>
              <a:t>Flight Fullness:</a:t>
            </a:r>
            <a:r>
              <a:rPr lang="en" sz="1200">
                <a:solidFill>
                  <a:srgbClr val="EFEFEF"/>
                </a:solidFill>
              </a:rPr>
              <a:t>      </a:t>
            </a:r>
            <a:r>
              <a:rPr lang="en" sz="12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load_factor</a:t>
            </a:r>
            <a:endParaRPr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5" name="Google Shape;415;p27"/>
          <p:cNvSpPr txBox="1"/>
          <p:nvPr/>
        </p:nvSpPr>
        <p:spPr>
          <a:xfrm>
            <a:off x="926475" y="1602850"/>
            <a:ext cx="5284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Translating Raw Data into Indicators of Difficulty.</a:t>
            </a:r>
            <a:endParaRPr sz="17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The Flight Difficulty Score </a:t>
            </a:r>
            <a:endParaRPr sz="3200"/>
          </a:p>
        </p:txBody>
      </p:sp>
      <p:sp>
        <p:nvSpPr>
          <p:cNvPr id="421" name="Google Shape;421;p28"/>
          <p:cNvSpPr txBox="1"/>
          <p:nvPr/>
        </p:nvSpPr>
        <p:spPr>
          <a:xfrm>
            <a:off x="777325" y="1042750"/>
            <a:ext cx="54339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Scoring Logic - A Weighted Approach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2" name="Google Shape;422;p28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3" name="Google Shape;423;p28"/>
          <p:cNvSpPr txBox="1"/>
          <p:nvPr/>
        </p:nvSpPr>
        <p:spPr>
          <a:xfrm>
            <a:off x="774250" y="2135676"/>
            <a:ext cx="7753200" cy="23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D9D9D9"/>
                </a:solidFill>
              </a:rPr>
              <a:t>Normalization:</a:t>
            </a:r>
            <a:r>
              <a:rPr lang="en" sz="2000">
                <a:solidFill>
                  <a:srgbClr val="D9D9D9"/>
                </a:solidFill>
              </a:rPr>
              <a:t> To ensure fairness, all features were scaled from 0 to 1 for each day independently. We used MinMaxScaler for this purpose.</a:t>
            </a:r>
            <a:endParaRPr sz="2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D9D9D9"/>
                </a:solidFill>
              </a:rPr>
              <a:t>Weighting:</a:t>
            </a:r>
            <a:r>
              <a:rPr lang="en" sz="2000">
                <a:solidFill>
                  <a:srgbClr val="D9D9D9"/>
                </a:solidFill>
              </a:rPr>
              <a:t> We assigned weights based on the impact observed during EDA. SSRs and Ground Time Pressure were identified as the most critical factors.</a:t>
            </a:r>
            <a:endParaRPr sz="2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</a:rPr>
              <a:t>  </a:t>
            </a:r>
            <a:endParaRPr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758750" y="1602850"/>
            <a:ext cx="5452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A Daily, Relative Scoring System</a:t>
            </a:r>
            <a:endParaRPr sz="17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The Flight Difficulty Score </a:t>
            </a:r>
            <a:endParaRPr sz="3200"/>
          </a:p>
        </p:txBody>
      </p:sp>
      <p:sp>
        <p:nvSpPr>
          <p:cNvPr id="430" name="Google Shape;430;p29"/>
          <p:cNvSpPr txBox="1"/>
          <p:nvPr/>
        </p:nvSpPr>
        <p:spPr>
          <a:xfrm>
            <a:off x="777325" y="1042750"/>
            <a:ext cx="54339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Scoring Logic - A Weighted Approach</a:t>
            </a:r>
            <a:endParaRPr b="1"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1" name="Google Shape;431;p29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2" name="Google Shape;432;p29" title="feature_weigh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1425" y="1640750"/>
            <a:ext cx="5708975" cy="315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9" title="Screenshot 2025-10-05 2116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25" y="1870000"/>
            <a:ext cx="2805550" cy="221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0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The Flight Difficulty Score </a:t>
            </a:r>
            <a:endParaRPr sz="3200"/>
          </a:p>
        </p:txBody>
      </p:sp>
      <p:sp>
        <p:nvSpPr>
          <p:cNvPr id="439" name="Google Shape;439;p30"/>
          <p:cNvSpPr/>
          <p:nvPr/>
        </p:nvSpPr>
        <p:spPr>
          <a:xfrm flipH="1" rot="10800000">
            <a:off x="1818179" y="885075"/>
            <a:ext cx="5230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0" name="Google Shape;440;p30"/>
          <p:cNvSpPr txBox="1"/>
          <p:nvPr/>
        </p:nvSpPr>
        <p:spPr>
          <a:xfrm>
            <a:off x="676388" y="1330977"/>
            <a:ext cx="2827200" cy="28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We successfully calculated the </a:t>
            </a:r>
            <a:r>
              <a:rPr lang="en" sz="18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difficulty</a:t>
            </a:r>
            <a:r>
              <a:rPr lang="en" sz="18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 scores and grouped them on the basis of difficulty_class(easy, medium and difficult). </a:t>
            </a:r>
            <a:endParaRPr sz="18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We grouped by day and then ranked the scores in descending order.</a:t>
            </a:r>
            <a:endParaRPr sz="18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1" name="Google Shape;441;p30" title="Screenshot 2025-10-05 2120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9975" y="1320434"/>
            <a:ext cx="5161625" cy="287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1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Results &amp; Analysis</a:t>
            </a:r>
            <a:endParaRPr sz="3200"/>
          </a:p>
        </p:txBody>
      </p:sp>
      <p:sp>
        <p:nvSpPr>
          <p:cNvPr id="447" name="Google Shape;447;p31"/>
          <p:cNvSpPr/>
          <p:nvPr/>
        </p:nvSpPr>
        <p:spPr>
          <a:xfrm flipH="1" rot="10800000">
            <a:off x="2438000" y="896250"/>
            <a:ext cx="3914700" cy="32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806875" y="993896"/>
            <a:ext cx="7677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Daily Flight Ranking &amp; Classification</a:t>
            </a:r>
            <a:endParaRPr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9" name="Google Shape;449;p31"/>
          <p:cNvSpPr txBox="1"/>
          <p:nvPr/>
        </p:nvSpPr>
        <p:spPr>
          <a:xfrm>
            <a:off x="698125" y="2092200"/>
            <a:ext cx="3207900" cy="20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The model produces a daily ranked list and classifies each flight as 'Easy', 'Medium', or 'Difficult'.</a:t>
            </a:r>
            <a:endParaRPr sz="19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0" name="Google Shape;450;p31" title="difficulty_class_pi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475" y="1624650"/>
            <a:ext cx="3860476" cy="33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2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Results &amp; Analysis</a:t>
            </a:r>
            <a:endParaRPr sz="3200"/>
          </a:p>
        </p:txBody>
      </p:sp>
      <p:sp>
        <p:nvSpPr>
          <p:cNvPr id="456" name="Google Shape;456;p32"/>
          <p:cNvSpPr/>
          <p:nvPr/>
        </p:nvSpPr>
        <p:spPr>
          <a:xfrm flipH="1" rot="10800000">
            <a:off x="2438000" y="896250"/>
            <a:ext cx="3914700" cy="32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7" name="Google Shape;457;p32"/>
          <p:cNvSpPr txBox="1"/>
          <p:nvPr/>
        </p:nvSpPr>
        <p:spPr>
          <a:xfrm>
            <a:off x="806875" y="993896"/>
            <a:ext cx="7677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 Pinpointing Difficult Destinations</a:t>
            </a:r>
            <a:endParaRPr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469775" y="1972575"/>
            <a:ext cx="3131700" cy="19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Our analysis revealed that a small number of destinations consistently account for a large portion of "Difficult" flights.</a:t>
            </a:r>
            <a:endParaRPr sz="19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9" name="Google Shape;459;p32" title="top_10_difficult_destina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275" y="1581150"/>
            <a:ext cx="5197875" cy="328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3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Results &amp; Analysis</a:t>
            </a:r>
            <a:endParaRPr sz="3200"/>
          </a:p>
        </p:txBody>
      </p:sp>
      <p:sp>
        <p:nvSpPr>
          <p:cNvPr id="465" name="Google Shape;465;p33"/>
          <p:cNvSpPr/>
          <p:nvPr/>
        </p:nvSpPr>
        <p:spPr>
          <a:xfrm flipH="1" rot="10800000">
            <a:off x="2438000" y="896250"/>
            <a:ext cx="3914700" cy="32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806875" y="993896"/>
            <a:ext cx="7677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The Drivers of Difficulty</a:t>
            </a:r>
            <a:endParaRPr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361033" y="1722468"/>
            <a:ext cx="3131700" cy="28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Why are those destinations so difficult?</a:t>
            </a:r>
            <a:endParaRPr sz="19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Flights to these top destinations exhibit significantly higher complexity across multiple factors compared to the average flight.</a:t>
            </a:r>
            <a:endParaRPr sz="19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68" name="Google Shape;468;p33" title="Screenshot 2025-10-05 2140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5133" y="1874921"/>
            <a:ext cx="5346467" cy="2263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 Conclusion &amp; Recommendations</a:t>
            </a:r>
            <a:endParaRPr sz="3200"/>
          </a:p>
        </p:txBody>
      </p:sp>
      <p:sp>
        <p:nvSpPr>
          <p:cNvPr id="474" name="Google Shape;474;p34"/>
          <p:cNvSpPr/>
          <p:nvPr/>
        </p:nvSpPr>
        <p:spPr>
          <a:xfrm flipH="1" rot="10800000">
            <a:off x="1350575" y="906825"/>
            <a:ext cx="6361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5" name="Google Shape;475;p34"/>
          <p:cNvSpPr txBox="1"/>
          <p:nvPr/>
        </p:nvSpPr>
        <p:spPr>
          <a:xfrm>
            <a:off x="733350" y="1015646"/>
            <a:ext cx="7677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Actionable Recommendations</a:t>
            </a:r>
            <a:endParaRPr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6" name="Google Shape;476;p34"/>
          <p:cNvSpPr txBox="1"/>
          <p:nvPr/>
        </p:nvSpPr>
        <p:spPr>
          <a:xfrm>
            <a:off x="622000" y="1755100"/>
            <a:ext cx="8003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FEFEF"/>
                </a:solidFill>
              </a:rPr>
              <a:t>R</a:t>
            </a:r>
            <a:r>
              <a:rPr b="1" lang="en" sz="1900">
                <a:solidFill>
                  <a:srgbClr val="F3F3F3"/>
                </a:solidFill>
              </a:rPr>
              <a:t>ecommendation 1 (Passenger Focus): Proactive Staffing.</a:t>
            </a:r>
            <a:r>
              <a:rPr lang="en" sz="1900">
                <a:solidFill>
                  <a:srgbClr val="F3F3F3"/>
                </a:solidFill>
              </a:rPr>
              <a:t> For flights flagged as "Difficult" to high-risk airports (IAH, SFO), pre-allocate an extra gate agent to manage complex boarding and SSR needs.</a:t>
            </a:r>
            <a:endParaRPr sz="19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3F3F3"/>
                </a:solidFill>
              </a:rPr>
              <a:t>Recommendation 2 (Baggage Focus): Priority Handling.</a:t>
            </a:r>
            <a:r>
              <a:rPr lang="en" sz="1900">
                <a:solidFill>
                  <a:srgbClr val="F3F3F3"/>
                </a:solidFill>
              </a:rPr>
              <a:t> Automatically flag "Difficult" flights in the baggage system to ensure transfer crews are ready for the high volume of "Hot Transfer" bags.</a:t>
            </a:r>
            <a:endParaRPr sz="19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3F3F3"/>
                </a:solidFill>
              </a:rPr>
              <a:t>Recommendation 3 (Scheduling Focus): Strategic Review.</a:t>
            </a:r>
            <a:r>
              <a:rPr lang="en" sz="1900">
                <a:solidFill>
                  <a:srgbClr val="F3F3F3"/>
                </a:solidFill>
              </a:rPr>
              <a:t> The operations team should review consistently high-ranked flights to see if adding a 10-15 minute buffer to their ground time is feasible.</a:t>
            </a:r>
            <a:endParaRPr sz="19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3F3F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 Conclusion &amp; Recommendations</a:t>
            </a:r>
            <a:endParaRPr sz="3200"/>
          </a:p>
        </p:txBody>
      </p:sp>
      <p:sp>
        <p:nvSpPr>
          <p:cNvPr id="482" name="Google Shape;482;p35"/>
          <p:cNvSpPr/>
          <p:nvPr/>
        </p:nvSpPr>
        <p:spPr>
          <a:xfrm flipH="1" rot="10800000">
            <a:off x="1350575" y="906825"/>
            <a:ext cx="6361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3" name="Google Shape;483;p35"/>
          <p:cNvSpPr txBox="1"/>
          <p:nvPr/>
        </p:nvSpPr>
        <p:spPr>
          <a:xfrm>
            <a:off x="733350" y="1015646"/>
            <a:ext cx="7677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Actionable Recommendations</a:t>
            </a:r>
            <a:endParaRPr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4" name="Google Shape;484;p35"/>
          <p:cNvSpPr txBox="1"/>
          <p:nvPr/>
        </p:nvSpPr>
        <p:spPr>
          <a:xfrm>
            <a:off x="622000" y="1678975"/>
            <a:ext cx="8003400" cy="3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FEFEF"/>
                </a:solidFill>
              </a:rPr>
              <a:t>Recommendation 4: Pre-Flight "Difficulty Huddle."</a:t>
            </a:r>
            <a:r>
              <a:rPr lang="en" sz="1800">
                <a:solidFill>
                  <a:srgbClr val="EFEFEF"/>
                </a:solidFill>
              </a:rPr>
              <a:t> For the top 3-5 flights ranked "Difficult" each morning, the operations manager should hold a brief huddle with the gate, ramp, and cabin crew leads. </a:t>
            </a:r>
            <a:endParaRPr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FEFEF"/>
                </a:solidFill>
              </a:rPr>
              <a:t>Recommendation 5: System-Wide Turnaround Time Review.</a:t>
            </a:r>
            <a:r>
              <a:rPr lang="en" sz="1900">
                <a:solidFill>
                  <a:srgbClr val="EFEFEF"/>
                </a:solidFill>
              </a:rPr>
              <a:t> Initiate a review of all flight schedules that fall below the recommended minimum turn time plus a 10-minute buffer.</a:t>
            </a:r>
            <a:endParaRPr sz="19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FEFEF"/>
                </a:solidFill>
              </a:rPr>
              <a:t>Recommendation 6: Enhanced Gate Information Displays.</a:t>
            </a:r>
            <a:r>
              <a:rPr lang="en" sz="1900">
                <a:solidFill>
                  <a:srgbClr val="EFEFEF"/>
                </a:solidFill>
              </a:rPr>
              <a:t> For flights flagged as "Difficult," the system should push key complexity metrics to the gate crew's information displays.</a:t>
            </a:r>
            <a:endParaRPr sz="25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3F3F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6"/>
          <p:cNvSpPr txBox="1"/>
          <p:nvPr>
            <p:ph type="ctrTitle"/>
          </p:nvPr>
        </p:nvSpPr>
        <p:spPr>
          <a:xfrm>
            <a:off x="758750" y="25455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 Conclusion &amp; Recommendations</a:t>
            </a:r>
            <a:endParaRPr sz="3200"/>
          </a:p>
        </p:txBody>
      </p:sp>
      <p:sp>
        <p:nvSpPr>
          <p:cNvPr id="490" name="Google Shape;490;p36"/>
          <p:cNvSpPr/>
          <p:nvPr/>
        </p:nvSpPr>
        <p:spPr>
          <a:xfrm flipH="1" rot="10800000">
            <a:off x="1350575" y="906825"/>
            <a:ext cx="6361500" cy="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1" name="Google Shape;491;p36"/>
          <p:cNvSpPr txBox="1"/>
          <p:nvPr/>
        </p:nvSpPr>
        <p:spPr>
          <a:xfrm>
            <a:off x="733350" y="1091765"/>
            <a:ext cx="7677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Conclusion</a:t>
            </a:r>
            <a:endParaRPr sz="2200" u="sng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2" name="Google Shape;492;p36"/>
          <p:cNvSpPr txBox="1"/>
          <p:nvPr/>
        </p:nvSpPr>
        <p:spPr>
          <a:xfrm>
            <a:off x="622000" y="1918211"/>
            <a:ext cx="80034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EFEFEF"/>
                </a:solidFill>
              </a:rPr>
              <a:t>Summary:</a:t>
            </a:r>
            <a:r>
              <a:rPr lang="en" sz="2100">
                <a:solidFill>
                  <a:srgbClr val="EFEFEF"/>
                </a:solidFill>
              </a:rPr>
              <a:t> The Flight Difficulty Score provides a simple, data-driven, and scalable tool to help United's frontline teams anticipate challenges, allocate resources more effectively, and improve on-time performance.</a:t>
            </a:r>
            <a:endParaRPr sz="29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94D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/>
          <p:cNvSpPr txBox="1"/>
          <p:nvPr>
            <p:ph type="ctrTitle"/>
          </p:nvPr>
        </p:nvSpPr>
        <p:spPr>
          <a:xfrm>
            <a:off x="758750" y="1907430"/>
            <a:ext cx="73122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 </a:t>
            </a:r>
            <a:r>
              <a:rPr lang="en" sz="3200"/>
              <a:t>Thank You</a:t>
            </a:r>
            <a:endParaRPr sz="3200"/>
          </a:p>
        </p:txBody>
      </p:sp>
      <p:sp>
        <p:nvSpPr>
          <p:cNvPr id="498" name="Google Shape;498;p37"/>
          <p:cNvSpPr/>
          <p:nvPr/>
        </p:nvSpPr>
        <p:spPr>
          <a:xfrm flipH="1" rot="10800000">
            <a:off x="3351425" y="2483806"/>
            <a:ext cx="2424900" cy="2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